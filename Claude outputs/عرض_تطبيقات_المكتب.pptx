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1417320" cy="11612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74320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تطبيقات المكتب الإداري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تنفيذي لعام 2026 — ملخّص ما أُنجز وأهمّ الأرقام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2062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للعرض على الشيخ سعد علي آل عوضه  ·  إعداد: محمد عاطف  ·  سبتمبر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الملخّص التنفيذي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81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العقارات والأراضي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556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591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شراء 43.84 مليون ر.س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481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إيجارات الشيخ سعد 2026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7556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589,627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591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باستبعاد مجمع الموسي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481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إيرادات المكتب 2026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7556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5B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586,406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3591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مايو–سبتمبر (ر.س)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137160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720" y="148132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استثمار الشراكات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175564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4,750,000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35915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شركات ضيافة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ما تحقّق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الأملاك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16052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توسّع من 20 إلى 41 أصلاً · صكوك مسجّلة 100% · تقرير شامل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83280" y="352044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المصروفات والعهد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416052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 مفصّلة · ترحيل تلقائي · تقفيلة بنكية شهرية · تقرير شامل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17920" y="352044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الشراكات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416052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ومستندات ومبالغ كل شركة + حصص الشيخ سعد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052560" y="3520440"/>
            <a:ext cx="2697480" cy="2377440"/>
          </a:xfrm>
          <a:prstGeom prst="roundRect">
            <a:avLst>
              <a:gd name="adj" fmla="val 3462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8972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الإيجارات الموحّد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189720" y="416052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برنامج جديد يدمج التحصيل والبنك والتسوية وربط المحوِّلين تلقائياً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المكتب الإداري للشيخ سعد علي آل عوضه — عرض تنفيذي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العقارات والأراضي — سجل الأملاك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89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العقارات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642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389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المساحة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6642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23,088 م²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389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الشراء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6642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43,840,000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ر.س (37 مسعّراً)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28016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13898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صكوك مسجّلة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66420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7A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41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226771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5532120" cy="2880360"/>
          </a:xfrm>
          <a:prstGeom prst="roundRect">
            <a:avLst>
              <a:gd name="adj" fmla="val 2857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التوزيع حسب المدينة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3520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الرياض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194560" y="3547872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1C3355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4560" y="3547872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D8B4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3941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جدة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194560" y="3968496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1C3355"/>
          </a:solidFill>
          <a:ln/>
        </p:spPr>
      </p:sp>
      <p:sp>
        <p:nvSpPr>
          <p:cNvPr id="25" name="Shape 23"/>
          <p:cNvSpPr/>
          <p:nvPr/>
        </p:nvSpPr>
        <p:spPr>
          <a:xfrm>
            <a:off x="3039466" y="3968496"/>
            <a:ext cx="115214" cy="237744"/>
          </a:xfrm>
          <a:prstGeom prst="roundRect">
            <a:avLst>
              <a:gd name="adj" fmla="val 31746"/>
            </a:avLst>
          </a:prstGeom>
          <a:solidFill>
            <a:srgbClr val="D8B4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39410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4361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مكة المكرمة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194560" y="4389120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1C3355"/>
          </a:solidFill>
          <a:ln/>
        </p:spPr>
      </p:sp>
      <p:sp>
        <p:nvSpPr>
          <p:cNvPr id="29" name="Shape 27"/>
          <p:cNvSpPr/>
          <p:nvPr/>
        </p:nvSpPr>
        <p:spPr>
          <a:xfrm>
            <a:off x="3097073" y="4389120"/>
            <a:ext cx="57607" cy="237744"/>
          </a:xfrm>
          <a:prstGeom prst="roundRect">
            <a:avLst>
              <a:gd name="adj" fmla="val 63492"/>
            </a:avLst>
          </a:prstGeom>
          <a:solidFill>
            <a:srgbClr val="D8B44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4361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154680" y="4782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المدينة المنورة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194560" y="4809744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1C3355"/>
          </a:solidFill>
          <a:ln/>
        </p:spPr>
      </p:sp>
      <p:sp>
        <p:nvSpPr>
          <p:cNvPr id="33" name="Shape 31"/>
          <p:cNvSpPr/>
          <p:nvPr/>
        </p:nvSpPr>
        <p:spPr>
          <a:xfrm>
            <a:off x="3108960" y="4809744"/>
            <a:ext cx="45720" cy="237744"/>
          </a:xfrm>
          <a:prstGeom prst="roundRect">
            <a:avLst>
              <a:gd name="adj" fmla="val 80000"/>
            </a:avLst>
          </a:prstGeom>
          <a:solidFill>
            <a:srgbClr val="D8B44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" y="4782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154680" y="5202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أبها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194560" y="5230368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1C3355"/>
          </a:solidFill>
          <a:ln/>
        </p:spPr>
      </p:sp>
      <p:sp>
        <p:nvSpPr>
          <p:cNvPr id="37" name="Shape 35"/>
          <p:cNvSpPr/>
          <p:nvPr/>
        </p:nvSpPr>
        <p:spPr>
          <a:xfrm>
            <a:off x="3108960" y="5230368"/>
            <a:ext cx="45720" cy="237744"/>
          </a:xfrm>
          <a:prstGeom prst="roundRect">
            <a:avLst>
              <a:gd name="adj" fmla="val 80000"/>
            </a:avLst>
          </a:prstGeom>
          <a:solidFill>
            <a:srgbClr val="D8B44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1520" y="5202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63640" y="288036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4652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التوزيع حسب النوع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686800" y="3520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أرض فضاء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909560" y="3547872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1C3355"/>
          </a:solidFill>
          <a:ln/>
        </p:spPr>
      </p:sp>
      <p:sp>
        <p:nvSpPr>
          <p:cNvPr id="43" name="Shape 41"/>
          <p:cNvSpPr/>
          <p:nvPr/>
        </p:nvSpPr>
        <p:spPr>
          <a:xfrm>
            <a:off x="7909560" y="3547872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5BD07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4652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8686800" y="3941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سكنية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909560" y="3968496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1C3355"/>
          </a:solidFill>
          <a:ln/>
        </p:spPr>
      </p:sp>
      <p:sp>
        <p:nvSpPr>
          <p:cNvPr id="47" name="Shape 45"/>
          <p:cNvSpPr/>
          <p:nvPr/>
        </p:nvSpPr>
        <p:spPr>
          <a:xfrm>
            <a:off x="8562442" y="3968496"/>
            <a:ext cx="124358" cy="237744"/>
          </a:xfrm>
          <a:prstGeom prst="roundRect">
            <a:avLst>
              <a:gd name="adj" fmla="val 29412"/>
            </a:avLst>
          </a:prstGeom>
          <a:solidFill>
            <a:srgbClr val="5BD07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446520" y="39410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8686800" y="4361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شقة سكنية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909560" y="4389120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1C3355"/>
          </a:solidFill>
          <a:ln/>
        </p:spPr>
      </p:sp>
      <p:sp>
        <p:nvSpPr>
          <p:cNvPr id="51" name="Shape 49"/>
          <p:cNvSpPr/>
          <p:nvPr/>
        </p:nvSpPr>
        <p:spPr>
          <a:xfrm>
            <a:off x="8640166" y="4389120"/>
            <a:ext cx="46634" cy="237744"/>
          </a:xfrm>
          <a:prstGeom prst="roundRect">
            <a:avLst>
              <a:gd name="adj" fmla="val 78432"/>
            </a:avLst>
          </a:prstGeom>
          <a:solidFill>
            <a:srgbClr val="5BD07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446520" y="4361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8686800" y="4782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شقة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909560" y="4809744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1C3355"/>
          </a:solidFill>
          <a:ln/>
        </p:spPr>
      </p:sp>
      <p:sp>
        <p:nvSpPr>
          <p:cNvPr id="55" name="Shape 53"/>
          <p:cNvSpPr/>
          <p:nvPr/>
        </p:nvSpPr>
        <p:spPr>
          <a:xfrm>
            <a:off x="8640166" y="4809744"/>
            <a:ext cx="46634" cy="237744"/>
          </a:xfrm>
          <a:prstGeom prst="roundRect">
            <a:avLst>
              <a:gd name="adj" fmla="val 78432"/>
            </a:avLst>
          </a:prstGeom>
          <a:solidFill>
            <a:srgbClr val="5BD07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446520" y="4782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8686800" y="5202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فيلا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909560" y="5230368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1C3355"/>
          </a:solidFill>
          <a:ln/>
        </p:spPr>
      </p:sp>
      <p:sp>
        <p:nvSpPr>
          <p:cNvPr id="59" name="Shape 57"/>
          <p:cNvSpPr/>
          <p:nvPr/>
        </p:nvSpPr>
        <p:spPr>
          <a:xfrm>
            <a:off x="8641080" y="5230368"/>
            <a:ext cx="45720" cy="237744"/>
          </a:xfrm>
          <a:prstGeom prst="roundRect">
            <a:avLst>
              <a:gd name="adj" fmla="val 80000"/>
            </a:avLst>
          </a:prstGeom>
          <a:solidFill>
            <a:srgbClr val="5BD07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446520" y="5202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48640" y="589788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2A1414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عقارات محجوزة/تحت متابعة قضائية بضاحية نمار (الرياض) — التفصيل في الشريحة التالية.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المكتب الإداري للشيخ سعد علي آل عوضه — عرض تنفيذي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العقارات المحجوزة — التفاصيل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قطع متجاورة — الرياض، ضاحية نمار، مخطط 3020 — كلٌّ بقيمة شراء 2,000,000 ر.س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  <a:gridCol w="2377440"/>
                <a:gridCol w="1188720"/>
                <a:gridCol w="1463040"/>
                <a:gridCol w="3044952"/>
              </a:tblGrid>
              <a:tr h="777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القطعة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رقم الصك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رقم العقار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المساحة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قيمة الشراء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سبب الحجز / الحالة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393415000319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9219276598200000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754.69 م²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قيد/دعوى قضائية — تأشيرة دعوى من وزارة العدل 1447-08-07، وحق (موقف) باسم المالك السابق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375/2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393415000320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1136213439240001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735.70 م²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محجوز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375/1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393415000322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1136212439180001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610.09 م²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محجوز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الإجمالي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قطع متجاورة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2,100 م²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يلزم رفع الحجز ومتابعة الدعوى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ملاحظة: القطعة 375/3 عليها دعوى قائمة (تأشيرة وزارة العدل)، والقطعتان 375/1 و375/2 محجوزتان — يُوصى بمراجعة قانونية لرفع الحجز.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المكتب الإداري للشيخ سعد علي آل عوضه — عرض تنفيذي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المصروفات والإيرادات — حساب المكتب الرئيسي (3000)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فعلية من نظام العهد والمصروفات لعام 2026 (مايو–سبتمبر · 218 قيداً · رصيد أول المدة 34,101 ر.س)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27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الواردات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01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5B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586,406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048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ر.س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527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المصروفات والتحويلات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801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617,409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4048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ر.س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527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العهد المسلَّمة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801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7A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337,253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4048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إسماعيل + عبدالرحمن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41732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152704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الرصيد الحالي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180136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3,099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40487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ر.س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6537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4592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الشهر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مدخلات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مصروفات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عهد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مايو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53,484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يونيو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58,121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يوليو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47,443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102,442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أغسطس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سبتمبر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55,540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الإجمالي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601,406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291,456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337,253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269480" y="3063240"/>
            <a:ext cx="4370832" cy="3063240"/>
          </a:xfrm>
          <a:prstGeom prst="roundRect">
            <a:avLst>
              <a:gd name="adj" fmla="val 2687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5236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بنود المصروفات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73252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رواتب موظفين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915400" y="3639312"/>
            <a:ext cx="-182880" cy="237744"/>
          </a:xfrm>
          <a:prstGeom prst="roundRect">
            <a:avLst>
              <a:gd name="adj" fmla="val -20000"/>
            </a:avLst>
          </a:prstGeom>
          <a:solidFill>
            <a:srgbClr val="1C3355"/>
          </a:solidFill>
          <a:ln/>
        </p:spPr>
      </p:sp>
      <p:sp>
        <p:nvSpPr>
          <p:cNvPr id="25" name="Shape 22"/>
          <p:cNvSpPr/>
          <p:nvPr/>
        </p:nvSpPr>
        <p:spPr>
          <a:xfrm>
            <a:off x="8686800" y="3639312"/>
            <a:ext cx="45720" cy="237744"/>
          </a:xfrm>
          <a:prstGeom prst="roundRect">
            <a:avLst>
              <a:gd name="adj" fmla="val 80000"/>
            </a:avLst>
          </a:prstGeom>
          <a:solidFill>
            <a:srgbClr val="D8B44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452360" y="3611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66,561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8732520" y="3959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عام ومتنوّع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915400" y="3986784"/>
            <a:ext cx="-182880" cy="237744"/>
          </a:xfrm>
          <a:prstGeom prst="roundRect">
            <a:avLst>
              <a:gd name="adj" fmla="val -20000"/>
            </a:avLst>
          </a:prstGeom>
          <a:solidFill>
            <a:srgbClr val="1C3355"/>
          </a:solidFill>
          <a:ln/>
        </p:spPr>
      </p:sp>
      <p:sp>
        <p:nvSpPr>
          <p:cNvPr id="29" name="Shape 26"/>
          <p:cNvSpPr/>
          <p:nvPr/>
        </p:nvSpPr>
        <p:spPr>
          <a:xfrm>
            <a:off x="8686800" y="3986784"/>
            <a:ext cx="45720" cy="237744"/>
          </a:xfrm>
          <a:prstGeom prst="roundRect">
            <a:avLst>
              <a:gd name="adj" fmla="val 80000"/>
            </a:avLst>
          </a:prstGeom>
          <a:solidFill>
            <a:srgbClr val="D8B44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452360" y="3959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57,551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8732520" y="4306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مصروفات العقار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915400" y="4334256"/>
            <a:ext cx="-182880" cy="237744"/>
          </a:xfrm>
          <a:prstGeom prst="roundRect">
            <a:avLst>
              <a:gd name="adj" fmla="val -20000"/>
            </a:avLst>
          </a:prstGeom>
          <a:solidFill>
            <a:srgbClr val="1C3355"/>
          </a:solidFill>
          <a:ln/>
        </p:spPr>
      </p:sp>
      <p:sp>
        <p:nvSpPr>
          <p:cNvPr id="33" name="Shape 30"/>
          <p:cNvSpPr/>
          <p:nvPr/>
        </p:nvSpPr>
        <p:spPr>
          <a:xfrm>
            <a:off x="8686800" y="4334256"/>
            <a:ext cx="45720" cy="237744"/>
          </a:xfrm>
          <a:prstGeom prst="roundRect">
            <a:avLst>
              <a:gd name="adj" fmla="val 80000"/>
            </a:avLst>
          </a:prstGeom>
          <a:solidFill>
            <a:srgbClr val="5BD07A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452360" y="43068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43,594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8732520" y="4654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حكومية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8915400" y="4681728"/>
            <a:ext cx="-182880" cy="237744"/>
          </a:xfrm>
          <a:prstGeom prst="roundRect">
            <a:avLst>
              <a:gd name="adj" fmla="val -20000"/>
            </a:avLst>
          </a:prstGeom>
          <a:solidFill>
            <a:srgbClr val="1C3355"/>
          </a:solidFill>
          <a:ln/>
        </p:spPr>
      </p:sp>
      <p:sp>
        <p:nvSpPr>
          <p:cNvPr id="37" name="Shape 34"/>
          <p:cNvSpPr/>
          <p:nvPr/>
        </p:nvSpPr>
        <p:spPr>
          <a:xfrm>
            <a:off x="8686800" y="4681728"/>
            <a:ext cx="45720" cy="237744"/>
          </a:xfrm>
          <a:prstGeom prst="roundRect">
            <a:avLst>
              <a:gd name="adj" fmla="val 80000"/>
            </a:avLst>
          </a:prstGeom>
          <a:solidFill>
            <a:srgbClr val="D8B44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452360" y="46542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36,187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8732520" y="5001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كهرباء ومياه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8915400" y="5029200"/>
            <a:ext cx="-182880" cy="237744"/>
          </a:xfrm>
          <a:prstGeom prst="roundRect">
            <a:avLst>
              <a:gd name="adj" fmla="val -20000"/>
            </a:avLst>
          </a:prstGeom>
          <a:solidFill>
            <a:srgbClr val="1C3355"/>
          </a:solidFill>
          <a:ln/>
        </p:spPr>
      </p:sp>
      <p:sp>
        <p:nvSpPr>
          <p:cNvPr id="41" name="Shape 38"/>
          <p:cNvSpPr/>
          <p:nvPr/>
        </p:nvSpPr>
        <p:spPr>
          <a:xfrm>
            <a:off x="8686800" y="5029200"/>
            <a:ext cx="45720" cy="237744"/>
          </a:xfrm>
          <a:prstGeom prst="roundRect">
            <a:avLst>
              <a:gd name="adj" fmla="val 80000"/>
            </a:avLst>
          </a:prstGeom>
          <a:solidFill>
            <a:srgbClr val="D8B44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452360" y="5001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28,801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8732520" y="5349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حجز طيران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8915400" y="5376672"/>
            <a:ext cx="-182880" cy="237744"/>
          </a:xfrm>
          <a:prstGeom prst="roundRect">
            <a:avLst>
              <a:gd name="adj" fmla="val -20000"/>
            </a:avLst>
          </a:prstGeom>
          <a:solidFill>
            <a:srgbClr val="1C3355"/>
          </a:solidFill>
          <a:ln/>
        </p:spPr>
      </p:sp>
      <p:sp>
        <p:nvSpPr>
          <p:cNvPr id="45" name="Shape 42"/>
          <p:cNvSpPr/>
          <p:nvPr/>
        </p:nvSpPr>
        <p:spPr>
          <a:xfrm>
            <a:off x="8686800" y="5376672"/>
            <a:ext cx="45720" cy="237744"/>
          </a:xfrm>
          <a:prstGeom prst="roundRect">
            <a:avLst>
              <a:gd name="adj" fmla="val 80000"/>
            </a:avLst>
          </a:prstGeom>
          <a:solidFill>
            <a:srgbClr val="D8B44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452360" y="5349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18,971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696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تأمين سيارات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8915400" y="5724144"/>
            <a:ext cx="-182880" cy="237744"/>
          </a:xfrm>
          <a:prstGeom prst="roundRect">
            <a:avLst>
              <a:gd name="adj" fmla="val -20000"/>
            </a:avLst>
          </a:prstGeom>
          <a:solidFill>
            <a:srgbClr val="1C3355"/>
          </a:solidFill>
          <a:ln/>
        </p:spPr>
      </p:sp>
      <p:sp>
        <p:nvSpPr>
          <p:cNvPr id="49" name="Shape 46"/>
          <p:cNvSpPr/>
          <p:nvPr/>
        </p:nvSpPr>
        <p:spPr>
          <a:xfrm>
            <a:off x="8686800" y="5724144"/>
            <a:ext cx="45720" cy="237744"/>
          </a:xfrm>
          <a:prstGeom prst="roundRect">
            <a:avLst>
              <a:gd name="adj" fmla="val 80000"/>
            </a:avLst>
          </a:prstGeom>
          <a:solidFill>
            <a:srgbClr val="D8B441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7452360" y="5696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16,168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548640" y="6217920"/>
            <a:ext cx="6537960" cy="502920"/>
          </a:xfrm>
          <a:prstGeom prst="roundRect">
            <a:avLst>
              <a:gd name="adj" fmla="val 16364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31520" y="6263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العهد المسلَّمة: عبدالرحمن (3002) 230,000  ·  إسماعيل (3001) 107,253  =  337,253 ر.س</a:t>
            </a:r>
            <a:endParaRPr lang="en-US" sz="1150" dirty="0"/>
          </a:p>
        </p:txBody>
      </p:sp>
      <p:sp>
        <p:nvSpPr>
          <p:cNvPr id="53" name="Text 50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المكتب الإداري للشيخ سعد علي آل عوضه — عرض تنفيذي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الشركات والشراكات — مظلّة «نالكم»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89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الشركات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642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قطاع المطاعم والضيافة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389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الاستثمار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6642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4,750,000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ر.س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389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 / المتبقّي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6642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5B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4.25م / 0.5م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9052560" y="128016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13898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حصص الشيخ سعد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166420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1,681,610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26771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تقديرية (ر.س)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167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737360"/>
                <a:gridCol w="1737360"/>
                <a:gridCol w="1737360"/>
                <a:gridCol w="1581912"/>
                <a:gridCol w="822960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الشركة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الاستثمار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حصة الشيخ سعد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قيمة الحصة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الحالة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مستندات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شركة ملتقى العلامات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33.33%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566,610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دفعات جارية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مطعم ستة رجب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مكتمل الدفع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مؤسسة اللفة (سويرل)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مكتمل الدفع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الإجمالي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1,681,610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العلامات التجارية لشركة ملتقى العلامات: لفيفة · شمس · كورما (فئة 43). المستندات: عقود · إيصالات · سجل تجاري · زكاة وضريبة · عنوان وطني.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المكتب الإداري للشيخ سعد علي آل عوضه — عرض تنفيذي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الإيجارات — تحصيلات الشيخ سعد لعام 2026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تقرير منصة إيجار — بعد استبعاد عقار «سعيد بن مزهر» (مجمع الموسي) المُدار بتفويض ولا يملكه الشيخ سعد.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72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تحصيل الشيخ سعد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47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589,627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50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باستبعاد الموسي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572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العقارات المحصِّلة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847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5B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450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عمارة + 3 وحدات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572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التراكمي (مرجع)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847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1,638,077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450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السنوات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46304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15727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مجمع الموسي 2026 (مستبعَد)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1847088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434,250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45059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مُدار لا يُملَك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العقار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8B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التراكمي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عمارة سعد القحطاني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476,377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1,411,827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شقة سعد القحطاني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سعد القحطاني المونسيه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شقة سعد القحطاني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27,750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شقة تمليك سعد القحطاني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إجمالي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589,627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3EA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1,638,077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4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D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635240" y="3108960"/>
            <a:ext cx="4005072" cy="2697480"/>
          </a:xfrm>
          <a:prstGeom prst="roundRect">
            <a:avLst>
              <a:gd name="adj" fmla="val 3051"/>
            </a:avLst>
          </a:prstGeom>
          <a:solidFill>
            <a:srgbClr val="14294D"/>
          </a:solidFill>
          <a:ln w="12700">
            <a:solidFill>
              <a:srgbClr val="29466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1812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5B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دفعة «المونسيه» — مؤكَّدة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818120" y="3657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المستأجر HASSAN AHMED (حسين) — العقد 10428697770.</a:t>
            </a:r>
            <a:endParaRPr lang="en-US" sz="12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دفعات بـ 30,000 ر.س عبر SADAD:</a:t>
            </a:r>
            <a:endParaRPr lang="en-US" sz="12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2025-05-20 · 2025-12-02 · 2026-06-02</a:t>
            </a:r>
            <a:endParaRPr lang="en-US" sz="12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الإجمالي 90,000. الدفعتان الأخيرتان مؤكَّدتان في كشف حساب العقار.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8521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حساب العقار (…643003) الرسمي 22/09/2025–22/09/2026: افتتاحي 137,890 · إيداعات 1,161,252 (منها منصة إيجار 974,302) · سحوبات 1,293,966 · ختامي 5,176.</a:t>
            </a:r>
            <a:endParaRPr lang="en-US" sz="11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عقار «سعيد بن مزهر» (مجمع الموسي) مُدار بتفويض ومُستبعَد بالكامل من حسابات الشيخ سعد.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المكتب الإداري للشيخ سعد علي آل عوضه — عرض تنفيذي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D8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 والخطوات التالية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8B4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544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تطبيقات المكتب تعمل بأرقام فعلية موثّقة عبر العقارات والمصروفات والشراكات والإيجارات.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8B4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68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برنامج الإيجارات الموحّد الجديد يجمع التحصيل والبنك والتسوية وربط المحوِّلين تلقائياً.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8B4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3832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عقار «سعيد بن مزهر» (مجمع الموسي) مُدار بتفويض ومُستبعَد من حسابات الشيخ سعد.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8B4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2976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العقارات الثلاثة المحجوزة بضاحية نمار (دعوى + حجزان).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2120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8B4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2120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3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دفعة المونسيه 2026 (حسين — 30,000) مؤكَّدة، وتفصيل العهد الشهري مُدرَج بالكامل من تصدير البرنامج.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FB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المكتب الإداري للشيخ سعد علي آل عوضه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2026-09-28T18:42:06Z</dcterms:created>
  <dcterms:modified xsi:type="dcterms:W3CDTF">2026-09-28T18:42:06Z</dcterms:modified>
</cp:coreProperties>
</file>